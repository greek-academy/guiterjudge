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3B04A0B4-F849-4662-8052-970B9E726AA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評価してほしいのは機能数ではなく「リスクを特定 → 実測 → 判断」の筋。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0B09A3-2CAE-43A1-A386-9CFEF51E0D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PRD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8/14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。既存アプリはカリキュラム消化型で、練習中の「何にでも」は使えない。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AC8B5-F3E1-435C-929E-93B5FE1656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95299-6592-428A-946E-7882480C5C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デモは合成音の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テイクをブラウザで実際に解析して作っている。スコアを埋め込んでいるのではない。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089330-B888-4205-B679-52304ABC44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1,700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行。音符起こしの認識技術は自作せず、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Spotify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の学習済みモデルをブラウザで動かしている。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 Worker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は使っておらず、初回推論のコストはウォームアップで隠している。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8C9144-973D-407A-86F0-F7097F7DCA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100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の合成スコアは廃止し、単位のある量に分解した（後述）。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35B9E-13A3-43FD-8415-D220D6E04B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日付の詳細（聞かれたら）：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8/14 PRD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・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Doc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8/15 Python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予備検証、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8/26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ブラウザ本検証（実録音・実機）、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9/1 MVP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・デモ基盤・ローカル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化、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9/9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安定度指標の作り直し、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9/13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精度改善（倍音除外）。コミット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1FB577-C9F9-41F3-92A0-982AB11A0C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デモの山場。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か所なのにピアノロールに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本出るのは「音の分割」（実測③）。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E693E0-017C-4D58-9DCA-97EBA38947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音域は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MIDI 40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88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）。変則チューニング・カポは未対応。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0C309-1014-458B-A4F1-161786FB37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月下旬の実録音検証で見た「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割の倍音誤検出」は別現象。当時は倍音しか分類していないので、分割が混ざっていた可能性があり、再分類が残課題。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B75AB5-2100-4403-80C8-8A72CAEAE4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EE03D2-6BAB-4DD7-9FD0-E8E62E080C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転換案の詳細は別資料（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guitar_score_diagnosis_slides.pptx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1AD58-1926-4C46-9D2F-B20AFF6B02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120640" y="1371600"/>
            <a:ext cx="4023360" cy="360"/>
          </a:xfrm>
          <a:prstGeom prst="line">
            <a:avLst/>
          </a:prstGeom>
          <a:ln w="9525">
            <a:solidFill>
              <a:srgbClr val="6B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120640" y="1572480"/>
            <a:ext cx="4023360" cy="360"/>
          </a:xfrm>
          <a:prstGeom prst="line">
            <a:avLst/>
          </a:prstGeom>
          <a:ln w="9525">
            <a:solidFill>
              <a:srgbClr val="6B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120640" y="1773720"/>
            <a:ext cx="4023360" cy="360"/>
          </a:xfrm>
          <a:prstGeom prst="line">
            <a:avLst/>
          </a:prstGeom>
          <a:ln w="9525">
            <a:solidFill>
              <a:srgbClr val="6B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120640" y="1974960"/>
            <a:ext cx="4023360" cy="360"/>
          </a:xfrm>
          <a:prstGeom prst="line">
            <a:avLst/>
          </a:prstGeom>
          <a:ln w="9525">
            <a:solidFill>
              <a:srgbClr val="6B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120640" y="2176200"/>
            <a:ext cx="4023360" cy="360"/>
          </a:xfrm>
          <a:prstGeom prst="line">
            <a:avLst/>
          </a:prstGeom>
          <a:ln w="9525">
            <a:solidFill>
              <a:srgbClr val="6B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486400" y="1389960"/>
            <a:ext cx="237240" cy="1641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715000" y="831960"/>
            <a:ext cx="360" cy="640080"/>
          </a:xfrm>
          <a:prstGeom prst="line">
            <a:avLst/>
          </a:prstGeom>
          <a:ln w="1905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126480" y="1591200"/>
            <a:ext cx="237240" cy="1641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355080" y="1033200"/>
            <a:ext cx="360" cy="640080"/>
          </a:xfrm>
          <a:prstGeom prst="line">
            <a:avLst/>
          </a:prstGeom>
          <a:ln w="1905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6766560" y="1490400"/>
            <a:ext cx="237240" cy="1641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995160" y="932400"/>
            <a:ext cx="360" cy="640080"/>
          </a:xfrm>
          <a:prstGeom prst="line">
            <a:avLst/>
          </a:prstGeom>
          <a:ln w="1905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7406640" y="1691640"/>
            <a:ext cx="237240" cy="1641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7635240" y="1133640"/>
            <a:ext cx="360" cy="640080"/>
          </a:xfrm>
          <a:prstGeom prst="line">
            <a:avLst/>
          </a:prstGeom>
          <a:ln w="1905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8138160" y="1389960"/>
            <a:ext cx="237240" cy="1641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8366760" y="831960"/>
            <a:ext cx="360" cy="640080"/>
          </a:xfrm>
          <a:prstGeom prst="line">
            <a:avLst/>
          </a:prstGeom>
          <a:ln w="1905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48640" y="1005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548640" y="1417320"/>
            <a:ext cx="54860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ja-JP" sz="400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ギター上達診断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ja-JP" sz="400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アプリ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548640" y="315468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0" u="none" strike="noStrike">
                <a:solidFill>
                  <a:srgbClr val="D9822B"/>
                </a:solidFill>
                <a:effectLst/>
                <a:uFillTx/>
                <a:latin typeface="Hiragino Sans"/>
                <a:ea typeface="Hiragino Sans"/>
              </a:rPr>
              <a:t>過去の自分と比較して、練習の停滞と伸びを可視化する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548640" y="4206240"/>
            <a:ext cx="791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2026</a:t>
            </a:r>
            <a:r>
              <a:rPr lang="ja-JP" sz="12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年</a:t>
            </a:r>
            <a:r>
              <a:rPr lang="en-US" sz="12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9</a:t>
            </a:r>
            <a:r>
              <a:rPr lang="ja-JP" sz="12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月　　　　　　　　　　　　　　　　　　　　　　　　　　　　　　　　　　　　　　　　　　河田恭明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課題と狙い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独学で伸び悩む社会人ギタリストのための、診断ファーストの練習伴走アプリ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457200" y="1371600"/>
            <a:ext cx="3931560" cy="301716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85800" y="15087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課題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685800" y="1965960"/>
            <a:ext cx="3474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3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一人で練習しても、自分の演奏の良し悪しが客観視できない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3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何を練習すべきか設計できず、なんとなく弾いて終わる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3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上達の実感がなく、練習が途切れる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4754880" y="1371600"/>
            <a:ext cx="3931560" cy="3017160"/>
          </a:xfrm>
          <a:prstGeom prst="roundRect">
            <a:avLst>
              <a:gd name="adj" fmla="val 2424"/>
            </a:avLst>
          </a:prstGeom>
          <a:solidFill>
            <a:srgbClr val="F7E6D3"/>
          </a:solidFill>
          <a:ln w="12700">
            <a:solidFill>
              <a:srgbClr val="F7E6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4983480" y="15087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狙い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983480" y="1965960"/>
            <a:ext cx="3474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3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引っかかるフレーズを「スレッド」にして録音を重ねる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3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過去の自分の演奏と比較し、どこが伸びてどこが停滞しているかを具体的に見せる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3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曲・基礎練・ソロを問わず、外部の「正解データ」なしで使える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457200" y="4526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既存アプリとの違い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カリキュラムを消化するのではなく、自分の弱点をその場で診断する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" name="Table 0"/>
          <p:cNvGraphicFramePr/>
          <p:nvPr/>
        </p:nvGraphicFramePr>
        <p:xfrm>
          <a:off x="457200" y="1371600"/>
          <a:ext cx="8229240" cy="26517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/>
                      <a:endParaRPr lang="en-US" sz="115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Hiragino Sans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既存アプリ（</a:t>
                      </a: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Yousician </a:t>
                      </a: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等）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本アプリ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D9822B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アプローチ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用意されたカリキュラムを消化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3A2A21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自分の弱点をその場で診断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D3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対象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アプリのライブラリ内の曲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3A2A21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練習中の何にでも対応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D3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進捗の見え方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ゲーム内スコア・正解率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3A2A21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自分の過去の演奏との比較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D3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必要なデータ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曲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DB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・タブ譜・コード進行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3A2A21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自分の録音だけ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6D3"/>
                    </a:solidFill>
                  </a:tcPr>
                </a:tc>
              </a:tr>
            </a:tbl>
          </a:graphicData>
        </a:graphic>
      </p:graphicFrame>
      <p:sp>
        <p:nvSpPr>
          <p:cNvPr id="44" name="Text 3"/>
          <p:cNvSpPr/>
          <p:nvPr/>
        </p:nvSpPr>
        <p:spPr>
          <a:xfrm>
            <a:off x="457200" y="4206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作ったもの：動く </a:t>
            </a:r>
            <a:r>
              <a:rPr lang="en-US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MVP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React + TypeScript + Vite / Basic Pitch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（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TensorFlow.js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/ Dexie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（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IndexedDB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）。約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1,700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457200" y="1371600"/>
            <a:ext cx="4023000" cy="12798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640080" y="1645920"/>
            <a:ext cx="548280" cy="5482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777240" y="1783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5"/>
          <p:cNvSpPr/>
          <p:nvPr/>
        </p:nvSpPr>
        <p:spPr>
          <a:xfrm>
            <a:off x="1371600" y="15087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スレッド一覧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1371600" y="184716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アクティブ／解決済み／曲通し。デモデータ投入、バックアップの書き出しと読み込み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4663440" y="1371600"/>
            <a:ext cx="4023000" cy="12798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4846320" y="1645920"/>
            <a:ext cx="548280" cy="5482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4983480" y="1783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9"/>
          <p:cNvSpPr/>
          <p:nvPr/>
        </p:nvSpPr>
        <p:spPr>
          <a:xfrm>
            <a:off x="5577840" y="15087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スレッド詳細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5577840" y="184716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録音の開始・停止で解析と診断まで自動実行。メトロノーム録音、お手本の設定、指標の推移グラフ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57200" y="2834640"/>
            <a:ext cx="4023000" cy="12798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640080" y="3108960"/>
            <a:ext cx="548280" cy="5482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2" descr="preencoded.png"/>
          <p:cNvPicPr/>
          <p:nvPr/>
        </p:nvPicPr>
        <p:blipFill>
          <a:blip r:embed="rId3"/>
          <a:stretch/>
        </p:blipFill>
        <p:spPr>
          <a:xfrm>
            <a:off x="777240" y="3246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3"/>
          <p:cNvSpPr/>
          <p:nvPr/>
        </p:nvSpPr>
        <p:spPr>
          <a:xfrm>
            <a:off x="1371600" y="2971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診断結果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1371600" y="33102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比較モード（直前／ベスト／お手本）。指標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6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種と、ピアノロールで「どの音がどうズレたか」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4663440" y="2834640"/>
            <a:ext cx="4023000" cy="12798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4846320" y="3108960"/>
            <a:ext cx="548280" cy="5482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3" descr="preencoded.png"/>
          <p:cNvPicPr/>
          <p:nvPr/>
        </p:nvPicPr>
        <p:blipFill>
          <a:blip r:embed="rId4"/>
          <a:stretch/>
        </p:blipFill>
        <p:spPr>
          <a:xfrm>
            <a:off x="4983480" y="3246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7"/>
          <p:cNvSpPr/>
          <p:nvPr/>
        </p:nvSpPr>
        <p:spPr>
          <a:xfrm>
            <a:off x="5577840" y="2971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音符起こし検証（開発用）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5577840" y="33102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実録音の検証用。閾値の 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36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通り総当たり、期待音符列との照合、倍音候補の印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457200" y="4389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仕組み①：構成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すべてブラウザの中で完結する。サーバーもアカウントもなく、音声は端末から出ない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457200" y="1325880"/>
            <a:ext cx="630900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3A2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40080" y="139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ブラウザ（</a:t>
            </a: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PWA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40080" y="17830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画面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40080" y="20574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React + TypeScript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4 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画面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1965960" y="1737360"/>
            <a:ext cx="1099080" cy="7311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2011680" y="179208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スレッド一覧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2011680" y="2066400"/>
            <a:ext cx="100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アクティブ／解決済み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デモ投入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3138840" y="1737360"/>
            <a:ext cx="1099080" cy="7311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3184560" y="179208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スレッド詳細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3184560" y="2066400"/>
            <a:ext cx="100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録音・メトロノーム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指標の推移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4311360" y="1737360"/>
            <a:ext cx="1099080" cy="7311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4357080" y="179208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診断結果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4357080" y="2066400"/>
            <a:ext cx="100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比較モード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ピアノロール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5484240" y="1737360"/>
            <a:ext cx="1099080" cy="73116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5529960" y="179208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音符起こし検証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5529960" y="2066400"/>
            <a:ext cx="100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開発用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4114800" y="2468880"/>
            <a:ext cx="360" cy="1371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640080" y="26517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処理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40080" y="2926080"/>
            <a:ext cx="1234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TypeScript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UI 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スレッド上で実行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1965960" y="2606040"/>
            <a:ext cx="864720" cy="1005480"/>
          </a:xfrm>
          <a:prstGeom prst="roundRect">
            <a:avLst>
              <a:gd name="adj" fmla="val 5285"/>
            </a:avLst>
          </a:prstGeom>
          <a:solidFill>
            <a:srgbClr val="DCE6F2"/>
          </a:solidFill>
          <a:ln w="12700">
            <a:solidFill>
              <a:srgbClr val="DCE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2011680" y="2660760"/>
            <a:ext cx="77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録音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2011680" y="2935080"/>
            <a:ext cx="773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MediaRecorder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Web Audio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2904120" y="2606040"/>
            <a:ext cx="864720" cy="1005480"/>
          </a:xfrm>
          <a:prstGeom prst="roundRect">
            <a:avLst>
              <a:gd name="adj" fmla="val 5285"/>
            </a:avLst>
          </a:prstGeom>
          <a:solidFill>
            <a:srgbClr val="DCE6F2"/>
          </a:solidFill>
          <a:ln w="12700">
            <a:solidFill>
              <a:srgbClr val="DCE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6"/>
          <p:cNvSpPr/>
          <p:nvPr/>
        </p:nvSpPr>
        <p:spPr>
          <a:xfrm>
            <a:off x="2949840" y="2660760"/>
            <a:ext cx="77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前処理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2949840" y="2935080"/>
            <a:ext cx="773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22050Hz </a:t>
            </a: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化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トリム・正規化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3842280" y="2606040"/>
            <a:ext cx="864720" cy="1005480"/>
          </a:xfrm>
          <a:prstGeom prst="roundRect">
            <a:avLst>
              <a:gd name="adj" fmla="val 5285"/>
            </a:avLst>
          </a:prstGeom>
          <a:solidFill>
            <a:srgbClr val="3A2A21"/>
          </a:solidFill>
          <a:ln w="12700">
            <a:solidFill>
              <a:srgbClr val="3A2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3888000" y="2660760"/>
            <a:ext cx="77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音符起こし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3888000" y="2935080"/>
            <a:ext cx="773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Basic Pitch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(TensorFlow.js)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モデル同梱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/>
          <p:cNvSpPr/>
          <p:nvPr/>
        </p:nvSpPr>
        <p:spPr>
          <a:xfrm>
            <a:off x="4780440" y="2606040"/>
            <a:ext cx="864720" cy="1005480"/>
          </a:xfrm>
          <a:prstGeom prst="roundRect">
            <a:avLst>
              <a:gd name="adj" fmla="val 5285"/>
            </a:avLst>
          </a:prstGeom>
          <a:solidFill>
            <a:srgbClr val="DCE6F2"/>
          </a:solidFill>
          <a:ln w="12700">
            <a:solidFill>
              <a:srgbClr val="DCE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2"/>
          <p:cNvSpPr/>
          <p:nvPr/>
        </p:nvSpPr>
        <p:spPr>
          <a:xfrm>
            <a:off x="4826160" y="2660760"/>
            <a:ext cx="77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後処理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4826160" y="2935080"/>
            <a:ext cx="773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分割統合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倍音除外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/>
          <p:cNvSpPr/>
          <p:nvPr/>
        </p:nvSpPr>
        <p:spPr>
          <a:xfrm>
            <a:off x="5718600" y="2606040"/>
            <a:ext cx="864720" cy="1005480"/>
          </a:xfrm>
          <a:prstGeom prst="roundRect">
            <a:avLst>
              <a:gd name="adj" fmla="val 5285"/>
            </a:avLst>
          </a:prstGeom>
          <a:solidFill>
            <a:srgbClr val="DCE6F2"/>
          </a:solidFill>
          <a:ln w="12700">
            <a:solidFill>
              <a:srgbClr val="DCE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5"/>
          <p:cNvSpPr/>
          <p:nvPr/>
        </p:nvSpPr>
        <p:spPr>
          <a:xfrm>
            <a:off x="5764320" y="2660760"/>
            <a:ext cx="77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比較・診断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6"/>
          <p:cNvSpPr/>
          <p:nvPr/>
        </p:nvSpPr>
        <p:spPr>
          <a:xfrm>
            <a:off x="5764320" y="2935080"/>
            <a:ext cx="773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アライメント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ms </a:t>
            </a: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指標・格子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/>
          <p:cNvSpPr/>
          <p:nvPr/>
        </p:nvSpPr>
        <p:spPr>
          <a:xfrm>
            <a:off x="4114800" y="3611880"/>
            <a:ext cx="360" cy="1371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8"/>
          <p:cNvSpPr/>
          <p:nvPr/>
        </p:nvSpPr>
        <p:spPr>
          <a:xfrm>
            <a:off x="640080" y="37947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保存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9"/>
          <p:cNvSpPr/>
          <p:nvPr/>
        </p:nvSpPr>
        <p:spPr>
          <a:xfrm>
            <a:off x="640080" y="406908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IndexedDB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（</a:t>
            </a: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Dexie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端末内のみ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0"/>
          <p:cNvSpPr/>
          <p:nvPr/>
        </p:nvSpPr>
        <p:spPr>
          <a:xfrm>
            <a:off x="1965960" y="3749040"/>
            <a:ext cx="1099080" cy="68544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/>
          <p:cNvSpPr/>
          <p:nvPr/>
        </p:nvSpPr>
        <p:spPr>
          <a:xfrm>
            <a:off x="2011680" y="380376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スレッド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2"/>
          <p:cNvSpPr/>
          <p:nvPr/>
        </p:nvSpPr>
        <p:spPr>
          <a:xfrm>
            <a:off x="2011680" y="4078080"/>
            <a:ext cx="100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課題フレーズ単位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3"/>
          <p:cNvSpPr/>
          <p:nvPr/>
        </p:nvSpPr>
        <p:spPr>
          <a:xfrm>
            <a:off x="3138840" y="3749040"/>
            <a:ext cx="1099080" cy="68544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4"/>
          <p:cNvSpPr/>
          <p:nvPr/>
        </p:nvSpPr>
        <p:spPr>
          <a:xfrm>
            <a:off x="3184560" y="380376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テイク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5"/>
          <p:cNvSpPr/>
          <p:nvPr/>
        </p:nvSpPr>
        <p:spPr>
          <a:xfrm>
            <a:off x="3184560" y="4078080"/>
            <a:ext cx="100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音声 </a:t>
            </a:r>
            <a:r>
              <a:rPr lang="en-US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+ </a:t>
            </a: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音符列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6"/>
          <p:cNvSpPr/>
          <p:nvPr/>
        </p:nvSpPr>
        <p:spPr>
          <a:xfrm>
            <a:off x="4311360" y="3749040"/>
            <a:ext cx="1099080" cy="68544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7"/>
          <p:cNvSpPr/>
          <p:nvPr/>
        </p:nvSpPr>
        <p:spPr>
          <a:xfrm>
            <a:off x="4357080" y="380376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診断結果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8"/>
          <p:cNvSpPr/>
          <p:nvPr/>
        </p:nvSpPr>
        <p:spPr>
          <a:xfrm>
            <a:off x="4357080" y="4078080"/>
            <a:ext cx="100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指標・対応付け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9"/>
          <p:cNvSpPr/>
          <p:nvPr/>
        </p:nvSpPr>
        <p:spPr>
          <a:xfrm>
            <a:off x="5484240" y="3749040"/>
            <a:ext cx="1099080" cy="68544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0"/>
          <p:cNvSpPr/>
          <p:nvPr/>
        </p:nvSpPr>
        <p:spPr>
          <a:xfrm>
            <a:off x="5529960" y="3803760"/>
            <a:ext cx="10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0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バックアップ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1"/>
          <p:cNvSpPr/>
          <p:nvPr/>
        </p:nvSpPr>
        <p:spPr>
          <a:xfrm>
            <a:off x="5529960" y="4078080"/>
            <a:ext cx="100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JSON </a:t>
            </a:r>
            <a:r>
              <a:rPr lang="ja-JP" sz="8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書き出し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2"/>
          <p:cNvSpPr/>
          <p:nvPr/>
        </p:nvSpPr>
        <p:spPr>
          <a:xfrm>
            <a:off x="7040880" y="1325880"/>
            <a:ext cx="1645560" cy="137124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3"/>
          <p:cNvSpPr/>
          <p:nvPr/>
        </p:nvSpPr>
        <p:spPr>
          <a:xfrm>
            <a:off x="7178040" y="14173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配信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4"/>
          <p:cNvSpPr/>
          <p:nvPr/>
        </p:nvSpPr>
        <p:spPr>
          <a:xfrm>
            <a:off x="7178040" y="17190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Vite </a:t>
            </a:r>
            <a:r>
              <a:rPr lang="ja-JP" sz="9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でビルドした静的ファイル。</a:t>
            </a:r>
            <a:r>
              <a:rPr lang="en-US" sz="9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Service Worker </a:t>
            </a:r>
            <a:r>
              <a:rPr lang="ja-JP" sz="9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が推論モデルごとオフラインにキャッシュ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5"/>
          <p:cNvSpPr/>
          <p:nvPr/>
        </p:nvSpPr>
        <p:spPr>
          <a:xfrm>
            <a:off x="7040880" y="2880360"/>
            <a:ext cx="1645560" cy="1691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6"/>
          <p:cNvSpPr/>
          <p:nvPr/>
        </p:nvSpPr>
        <p:spPr>
          <a:xfrm>
            <a:off x="7178040" y="2971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C0392B"/>
                </a:solidFill>
                <a:effectLst/>
                <a:uFillTx/>
                <a:latin typeface="Hiragino Sans"/>
                <a:ea typeface="Hiragino Sans"/>
              </a:rPr>
              <a:t>サーバー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7"/>
          <p:cNvSpPr/>
          <p:nvPr/>
        </p:nvSpPr>
        <p:spPr>
          <a:xfrm>
            <a:off x="7178040" y="324612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400" b="1" u="none" strike="noStrike">
                <a:solidFill>
                  <a:srgbClr val="C0392B"/>
                </a:solidFill>
                <a:effectLst/>
                <a:uFillTx/>
                <a:latin typeface="Hiragino Sans"/>
                <a:ea typeface="Hiragino Sans"/>
              </a:rPr>
              <a:t>なし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8"/>
          <p:cNvSpPr/>
          <p:nvPr/>
        </p:nvSpPr>
        <p:spPr>
          <a:xfrm>
            <a:off x="7178040" y="374904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録音も推論も端末内。外部通信は初回のアプリ配信だけ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仕組み②：録音から診断まで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すべてブラウザ内。音符起こしは 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Spotify 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の学習済みモデル 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Basic Pitch 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を使用。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457200" y="1463040"/>
            <a:ext cx="1298160" cy="9597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530280" y="1536120"/>
            <a:ext cx="115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録音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530280" y="1828800"/>
            <a:ext cx="115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MediaRecorder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メトロノーム・カウントイン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1755360" y="1938240"/>
            <a:ext cx="8784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1843560" y="1463040"/>
            <a:ext cx="1298160" cy="9597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1916640" y="1536120"/>
            <a:ext cx="115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前処理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1916640" y="1828800"/>
            <a:ext cx="115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22050Hz 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モノラル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無音トリム・正規化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3141720" y="1938240"/>
            <a:ext cx="8784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3229560" y="1463040"/>
            <a:ext cx="1298160" cy="959760"/>
          </a:xfrm>
          <a:prstGeom prst="roundRect">
            <a:avLst>
              <a:gd name="adj" fmla="val 5714"/>
            </a:avLst>
          </a:prstGeom>
          <a:solidFill>
            <a:srgbClr val="3A2A21"/>
          </a:solidFill>
          <a:ln w="12700">
            <a:solidFill>
              <a:srgbClr val="3A2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3302640" y="1536120"/>
            <a:ext cx="115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音符起こし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3302640" y="1828800"/>
            <a:ext cx="115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Basic Pitch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閾値 </a:t>
            </a:r>
            <a:r>
              <a:rPr lang="en-US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0.7 / 0.5</a:t>
            </a:r>
            <a:r>
              <a:rPr lang="ja-JP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、音域 </a:t>
            </a:r>
            <a:r>
              <a:rPr lang="en-US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E2</a:t>
            </a:r>
            <a:r>
              <a:rPr lang="ja-JP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900" b="0" u="none" strike="noStrike">
                <a:solidFill>
                  <a:srgbClr val="B9AEA6"/>
                </a:solidFill>
                <a:effectLst/>
                <a:uFillTx/>
                <a:latin typeface="Hiragino Sans"/>
                <a:ea typeface="Hiragino Sans"/>
              </a:rPr>
              <a:t>E6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4528080" y="1938240"/>
            <a:ext cx="8748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4615920" y="1463040"/>
            <a:ext cx="1298160" cy="9597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4689000" y="1536120"/>
            <a:ext cx="115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分割統合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4689000" y="1828800"/>
            <a:ext cx="115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同音高 </a:t>
            </a: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150ms 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以内の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再オンセットを畳む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8"/>
          <p:cNvSpPr/>
          <p:nvPr/>
        </p:nvSpPr>
        <p:spPr>
          <a:xfrm>
            <a:off x="5914080" y="1938240"/>
            <a:ext cx="8784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6002280" y="1463040"/>
            <a:ext cx="1298160" cy="9597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0"/>
          <p:cNvSpPr/>
          <p:nvPr/>
        </p:nvSpPr>
        <p:spPr>
          <a:xfrm>
            <a:off x="6075360" y="1536120"/>
            <a:ext cx="115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アライメント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6075360" y="1828800"/>
            <a:ext cx="115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編集距離ベースで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音符同士を対応付け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7300440" y="1938240"/>
            <a:ext cx="8784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7388280" y="1463040"/>
            <a:ext cx="1298160" cy="959760"/>
          </a:xfrm>
          <a:prstGeom prst="roundRect">
            <a:avLst>
              <a:gd name="adj" fmla="val 5714"/>
            </a:avLst>
          </a:prstGeom>
          <a:solidFill>
            <a:srgbClr val="F7E6D3"/>
          </a:solidFill>
          <a:ln w="12700">
            <a:solidFill>
              <a:srgbClr val="F7E6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7461360" y="1536120"/>
            <a:ext cx="115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指標・可視化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5"/>
          <p:cNvSpPr/>
          <p:nvPr/>
        </p:nvSpPr>
        <p:spPr>
          <a:xfrm>
            <a:off x="7461360" y="1828800"/>
            <a:ext cx="115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ms </a:t>
            </a: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単位の分解指標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ピアノロール・推移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6"/>
          <p:cNvSpPr/>
          <p:nvPr/>
        </p:nvSpPr>
        <p:spPr>
          <a:xfrm>
            <a:off x="457200" y="2743200"/>
            <a:ext cx="8229240" cy="173700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685800" y="28530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出す指標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8"/>
          <p:cNvSpPr/>
          <p:nvPr/>
        </p:nvSpPr>
        <p:spPr>
          <a:xfrm>
            <a:off x="685800" y="3200400"/>
            <a:ext cx="77720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相対（比較対象あり）：音符一致率、出だしのばらつき（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ms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）、弾き忘れ／余分な音、テンポ差（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%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絶対（メトロノーム録音）：拍の格子に対するばらつき（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ms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）、テンポの流れ（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%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）、格子との一致度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比較モード：直前のテイク／ばらつき最小のテイク／お手本（任意）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進め方：リスクを特定 → 実測 → 判断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457200" y="1371600"/>
            <a:ext cx="2651400" cy="274284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640080" y="1554480"/>
            <a:ext cx="502560" cy="50256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0" descr="preencoded.png"/>
          <p:cNvPicPr/>
          <p:nvPr/>
        </p:nvPicPr>
        <p:blipFill>
          <a:blip r:embed="rId1"/>
          <a:stretch/>
        </p:blipFill>
        <p:spPr>
          <a:xfrm>
            <a:off x="765720" y="168012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5"/>
          <p:cNvSpPr/>
          <p:nvPr/>
        </p:nvSpPr>
        <p:spPr>
          <a:xfrm>
            <a:off x="1280160" y="15361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特定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280160" y="18471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8</a:t>
            </a:r>
            <a:r>
              <a:rPr lang="ja-JP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月前半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40080" y="2240280"/>
            <a:ext cx="22856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PRD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Design Doc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で、最大リスクを「自己比較の精度」と定めた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機能を積む前に、この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点を最初に検証すると決めた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3108960" y="1801080"/>
            <a:ext cx="13716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3246120" y="1371600"/>
            <a:ext cx="2651400" cy="274284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3429000" y="1554480"/>
            <a:ext cx="502560" cy="502560"/>
          </a:xfrm>
          <a:prstGeom prst="ellipse">
            <a:avLst/>
          </a:prstGeom>
          <a:solidFill>
            <a:srgbClr val="3D6B9E"/>
          </a:solidFill>
          <a:ln w="12700">
            <a:solidFill>
              <a:srgbClr val="3D6B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1" descr="preencoded.png"/>
          <p:cNvPicPr/>
          <p:nvPr/>
        </p:nvPicPr>
        <p:blipFill>
          <a:blip r:embed="rId2"/>
          <a:stretch/>
        </p:blipFill>
        <p:spPr>
          <a:xfrm>
            <a:off x="3554640" y="168012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11"/>
          <p:cNvSpPr/>
          <p:nvPr/>
        </p:nvSpPr>
        <p:spPr>
          <a:xfrm>
            <a:off x="4069080" y="15361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実測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4069080" y="18471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8</a:t>
            </a:r>
            <a:r>
              <a:rPr lang="ja-JP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月後半〜</a:t>
            </a:r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9</a:t>
            </a:r>
            <a:r>
              <a:rPr lang="ja-JP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3429000" y="2240280"/>
            <a:ext cx="22856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合成音と実録音で 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Basic Pitch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を検証。閾値調整の必要性、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22050Hz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必須、倍音・分割による過剰検出を発見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動く 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MVP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と合成音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19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テイクのデモ基盤を作り、指標のふるまいを数値で確認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5897880" y="1801080"/>
            <a:ext cx="137160" cy="360"/>
          </a:xfrm>
          <a:prstGeom prst="line">
            <a:avLst/>
          </a:prstGeom>
          <a:ln w="19050">
            <a:solidFill>
              <a:srgbClr val="6E6E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6035040" y="1371600"/>
            <a:ext cx="2651400" cy="2742840"/>
          </a:xfrm>
          <a:prstGeom prst="roundRect">
            <a:avLst>
              <a:gd name="adj" fmla="val 2759"/>
            </a:avLst>
          </a:prstGeom>
          <a:solidFill>
            <a:srgbClr val="F7E6D3"/>
          </a:solidFill>
          <a:ln w="12700">
            <a:solidFill>
              <a:srgbClr val="F7E6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6217920" y="1554480"/>
            <a:ext cx="502560" cy="5025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2" descr="preencoded.png"/>
          <p:cNvPicPr/>
          <p:nvPr/>
        </p:nvPicPr>
        <p:blipFill>
          <a:blip r:embed="rId3"/>
          <a:stretch/>
        </p:blipFill>
        <p:spPr>
          <a:xfrm>
            <a:off x="6343560" y="168012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7"/>
          <p:cNvSpPr/>
          <p:nvPr/>
        </p:nvSpPr>
        <p:spPr>
          <a:xfrm>
            <a:off x="6858000" y="15361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判断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6858000" y="18471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9</a:t>
            </a:r>
            <a:r>
              <a:rPr lang="ja-JP" sz="10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6217920" y="2240280"/>
            <a:ext cx="22856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守備範囲を単音・分散和音・音間隔 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300ms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以上に限定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0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100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の合成スコアを廃止し、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ms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単位の指標に分解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自己比較の構造的限界を認め、楽譜照合への転換を検討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457200" y="4251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以下の</a:t>
            </a: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4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枚は、「実測」で分かったことと、それに基づく「判断」。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実測①：系統的な間違いを音符単位で検出できる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PRD 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の 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Risks 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に書いた「構造的限界」を合成音で再現し、お手本比較で検出できることを確認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457200" y="13258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仕込み：</a:t>
            </a: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B♭ 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コードの</a:t>
            </a: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度 </a:t>
            </a: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D4 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を、毎回 </a:t>
            </a: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C♯4 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に半音低く押さえる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" name="Table 0"/>
          <p:cNvGraphicFramePr/>
          <p:nvPr/>
        </p:nvGraphicFramePr>
        <p:xfrm>
          <a:off x="457200" y="1691640"/>
          <a:ext cx="4937400" cy="132588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テイク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C♯4 </a:t>
                      </a: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の検出数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D4 </a:t>
                      </a: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の検出数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通常テイク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1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〜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5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5</a:t>
                      </a:r>
                      <a:r>
                        <a:rPr lang="ja-JP" sz="115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〜</a:t>
                      </a:r>
                      <a:r>
                        <a:rPr lang="en-US" sz="115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6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0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お手本テイク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0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F7D58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6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6" name="Text 4"/>
          <p:cNvSpPr/>
          <p:nvPr/>
        </p:nvSpPr>
        <p:spPr>
          <a:xfrm>
            <a:off x="457200" y="31089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→ Basic Pitch </a:t>
            </a: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は仕込んだ系統誤差を完全に分離して検出した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5669280" y="1325880"/>
            <a:ext cx="3017160" cy="118836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5852160" y="1417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自己比較（直前のテイクと）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5852160" y="16916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100%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7315200" y="178308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音符一致率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「前回と一音も違わない」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5669280" y="2651760"/>
            <a:ext cx="3017160" cy="1188360"/>
          </a:xfrm>
          <a:prstGeom prst="roundRect">
            <a:avLst>
              <a:gd name="adj" fmla="val 6154"/>
            </a:avLst>
          </a:prstGeom>
          <a:solidFill>
            <a:srgbClr val="F7E6D3"/>
          </a:solidFill>
          <a:ln w="12700">
            <a:solidFill>
              <a:srgbClr val="F7E6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5852160" y="27432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お手本比較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1"/>
          <p:cNvSpPr/>
          <p:nvPr/>
        </p:nvSpPr>
        <p:spPr>
          <a:xfrm>
            <a:off x="5852160" y="301752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C0392B"/>
                </a:solidFill>
                <a:effectLst/>
                <a:uFillTx/>
                <a:latin typeface="Hiragino Sans"/>
                <a:ea typeface="Hiragino Sans"/>
              </a:rPr>
              <a:t>80%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2"/>
          <p:cNvSpPr/>
          <p:nvPr/>
        </p:nvSpPr>
        <p:spPr>
          <a:xfrm>
            <a:off x="7315200" y="31089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50" b="0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音符一致率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50" b="0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赤の「音高違い」が</a:t>
            </a:r>
            <a:r>
              <a:rPr lang="en-US" sz="950" b="0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950" b="0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か所に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457200" y="40233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週間ずっと同じ間違いを、安定して弾いていた。自己比較はこれを「安定している」としか言えない。限界を認識し、お手本比較・自己確認ステップ・</a:t>
            </a: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UI 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文言の</a:t>
            </a: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段で緩和策を実装済み。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実測②：現状のエンジンで扱える範囲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合成音とデモデータ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19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テイクで計測。守備範囲が実測で決まった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9" name="Table 0"/>
          <p:cNvGraphicFramePr/>
          <p:nvPr/>
        </p:nvGraphicFramePr>
        <p:xfrm>
          <a:off x="457200" y="1371600"/>
          <a:ext cx="8229240" cy="242316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3108960"/>
                <a:gridCol w="182880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素材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音の間隔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検出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判定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3A2A21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単音フレーズ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約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310ms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安定（意図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24 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音に対し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26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〜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28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F7D58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◯ 対応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アルペジオ（分散和音）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約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310ms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安定（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32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〜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33 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音、テイク間で一定）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F7D58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◯ 対応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単音フレーズ（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16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分）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約 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178ms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取りこぼしが増える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D982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△ 目安 </a:t>
                      </a:r>
                      <a:r>
                        <a:rPr lang="en-US" sz="1150" b="1" u="none" strike="noStrike">
                          <a:solidFill>
                            <a:srgbClr val="D982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300ms </a:t>
                      </a:r>
                      <a:r>
                        <a:rPr lang="ja-JP" sz="1150" b="1" u="none" strike="noStrike">
                          <a:solidFill>
                            <a:srgbClr val="D982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以上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ストローク（</a:t>
                      </a:r>
                      <a:r>
                        <a:rPr lang="en-US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6</a:t>
                      </a: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音同時）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同時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ja-JP" sz="1150" b="0" u="none" strike="noStrike">
                          <a:solidFill>
                            <a:srgbClr val="2B2B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テイクごとに検出がばらつく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Hiragino Sans"/>
                          <a:ea typeface="Hiragino Sans"/>
                        </a:rPr>
                        <a:t>✕ 対象外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0" name="Text 3"/>
          <p:cNvSpPr/>
          <p:nvPr/>
        </p:nvSpPr>
        <p:spPr>
          <a:xfrm>
            <a:off x="457200" y="40690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ストローク和音は </a:t>
            </a: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Basic Pitch 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が安定して分解できない。和音をスコープから外し、単音・分散和音・音間隔 </a:t>
            </a: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300ms 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以上を </a:t>
            </a:r>
            <a:r>
              <a:rPr lang="en-US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v1 </a:t>
            </a: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の守備範囲と定めた。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実測③：過剰検出の正体は「音の分割」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デモデータ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19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テイク・検出</a:t>
            </a: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440</a:t>
            </a:r>
            <a:r>
              <a:rPr lang="ja-JP" sz="12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音を分類。初期の実録音検証で見た倍音問題とは別の現象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457200" y="1371600"/>
            <a:ext cx="2651400" cy="141696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640080" y="146304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D9822B"/>
                </a:solidFill>
                <a:effectLst/>
                <a:uFillTx/>
                <a:latin typeface="Hiragino Sans"/>
                <a:ea typeface="Hiragino Sans"/>
              </a:rPr>
              <a:t>25%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640080" y="2103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つの音が</a:t>
            </a:r>
            <a:r>
              <a:rPr lang="en-US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つに割れた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640080" y="2377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直前</a:t>
            </a:r>
            <a:r>
              <a:rPr lang="en-US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1.2</a:t>
            </a: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秒以内に同じ音高が再検出。</a:t>
            </a:r>
            <a:r>
              <a:rPr lang="en-US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108</a:t>
            </a: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3246120" y="1371600"/>
            <a:ext cx="2651400" cy="141696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3429000" y="146304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0.2%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3429000" y="2103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倍音関係で説明できるもの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3429000" y="2377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+12/+19/+24/+28 </a:t>
            </a: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半音。</a:t>
            </a:r>
            <a:r>
              <a:rPr lang="en-US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440</a:t>
            </a: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音中わずか</a:t>
            </a:r>
            <a:r>
              <a:rPr lang="en-US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6035040" y="1371600"/>
            <a:ext cx="2651400" cy="141696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6217920" y="146304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F7D58"/>
                </a:solidFill>
                <a:effectLst/>
                <a:uFillTx/>
                <a:latin typeface="Hiragino Sans"/>
                <a:ea typeface="Hiragino Sans"/>
              </a:rPr>
              <a:t>75%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6217920" y="2103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意図した音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6217920" y="2377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331</a:t>
            </a:r>
            <a:r>
              <a:rPr lang="ja-JP" sz="95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音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5"/>
          <p:cNvSpPr/>
          <p:nvPr/>
        </p:nvSpPr>
        <p:spPr>
          <a:xfrm>
            <a:off x="457200" y="2971800"/>
            <a:ext cx="8229240" cy="159984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685800" y="30816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5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切り分けで分かったこと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685800" y="3401640"/>
            <a:ext cx="7772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分割の再検出は「次の音が鳴った時刻ちょうど」に立つ。前の音が響く中で次を撥弦すると、鳴り続けている音にも新しいオンセットが立つ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合成方式を変えても消えず、音の重なりを無くすと 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0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になる。原因は「重なり」そのもので、実際のギターでも同じ条件が揃う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対策として「同音高 </a:t>
            </a:r>
            <a:r>
              <a:rPr lang="en-US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150ms </a:t>
            </a:r>
            <a:r>
              <a:rPr lang="ja-JP" sz="11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以内の再オンセットを畳む」分割統合を診断の入力側に入れた。窓幅は実録音で未検証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ヶ月で言えること・言えないこと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457200" y="1371600"/>
            <a:ext cx="4023000" cy="301716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685800" y="1508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4"/>
          <p:cNvSpPr/>
          <p:nvPr/>
        </p:nvSpPr>
        <p:spPr>
          <a:xfrm>
            <a:off x="1143000" y="15087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3F7D58"/>
                </a:solidFill>
                <a:effectLst/>
                <a:uFillTx/>
                <a:latin typeface="Hiragino Sans"/>
                <a:ea typeface="Hiragino Sans"/>
              </a:rPr>
              <a:t>言えること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685800" y="2011680"/>
            <a:ext cx="3565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ブラウザ内で録音 → 音符起こし → 自己比較診断まで動く（サーバーなし）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時間をまたいだ指標の推移が可視化できる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自己比較の構造的限界を再現でき、お手本比較で検出できる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単音・分散和音なら、系統的な押さえ間違いを音符単位で特定できる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4663440" y="1371600"/>
            <a:ext cx="4023000" cy="301716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 w="12700">
            <a:solidFill>
              <a:srgbClr val="F2F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1" descr="preencoded.png"/>
          <p:cNvPicPr/>
          <p:nvPr/>
        </p:nvPicPr>
        <p:blipFill>
          <a:blip r:embed="rId2"/>
          <a:stretch/>
        </p:blipFill>
        <p:spPr>
          <a:xfrm>
            <a:off x="4892040" y="1508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7"/>
          <p:cNvSpPr/>
          <p:nvPr/>
        </p:nvSpPr>
        <p:spPr>
          <a:xfrm>
            <a:off x="5349240" y="15087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C0392B"/>
                </a:solidFill>
                <a:effectLst/>
                <a:uFillTx/>
                <a:latin typeface="Hiragino Sans"/>
                <a:ea typeface="Hiragino Sans"/>
              </a:rPr>
              <a:t>言えないこと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4892040" y="2011680"/>
            <a:ext cx="3565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ストローク和音は扱えない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実録音での精度は数値化できていない。「期待する音符列」を入れた本測定が未実施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2B2B2B"/>
              </a:buClr>
              <a:buFont typeface="Symbol" charset="2"/>
              <a:buChar char=""/>
            </a:pPr>
            <a:r>
              <a:rPr lang="ja-JP" sz="120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合成音は本物より素直で、実録音ではもっと悪くなる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6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残る課題と、次の判断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457200" y="1371600"/>
            <a:ext cx="502560" cy="50256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0" descr="preencoded.png"/>
          <p:cNvPicPr/>
          <p:nvPr/>
        </p:nvPicPr>
        <p:blipFill>
          <a:blip r:embed="rId1"/>
          <a:stretch/>
        </p:blipFill>
        <p:spPr>
          <a:xfrm>
            <a:off x="582840" y="149724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4"/>
          <p:cNvSpPr/>
          <p:nvPr/>
        </p:nvSpPr>
        <p:spPr>
          <a:xfrm>
            <a:off x="1143000" y="132588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未実装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1143000" y="16185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スレッドの削除・並び替え、アクティブスレッド数の上限、お手本の音符編集 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UI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、分割統合の窓幅（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150ms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）の実録音での検証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457200" y="2194560"/>
            <a:ext cx="502560" cy="50256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582840" y="232020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7"/>
          <p:cNvSpPr/>
          <p:nvPr/>
        </p:nvSpPr>
        <p:spPr>
          <a:xfrm>
            <a:off x="1143000" y="21488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未検証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1143000" y="244152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実録音での音符起こし精度の本測定。初期検証の実録音データを「分割」基準で再分類。スマホ実機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457200" y="3017520"/>
            <a:ext cx="502560" cy="5025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2" descr="preencoded.png"/>
          <p:cNvPicPr/>
          <p:nvPr/>
        </p:nvPicPr>
        <p:blipFill>
          <a:blip r:embed="rId3"/>
          <a:stretch/>
        </p:blipFill>
        <p:spPr>
          <a:xfrm>
            <a:off x="582840" y="31431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10"/>
          <p:cNvSpPr/>
          <p:nvPr/>
        </p:nvSpPr>
        <p:spPr>
          <a:xfrm>
            <a:off x="1143000" y="2971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構造的限界（解消不能）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1143000" y="326448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自己比較は一貫性しか測れず、正誤を判定できない。外部の正解データなしには理論的に区別できない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457200" y="3840480"/>
            <a:ext cx="502560" cy="5025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3" descr="preencoded.png"/>
          <p:cNvPicPr/>
          <p:nvPr/>
        </p:nvPicPr>
        <p:blipFill>
          <a:blip r:embed="rId4"/>
          <a:stretch/>
        </p:blipFill>
        <p:spPr>
          <a:xfrm>
            <a:off x="582840" y="396612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13"/>
          <p:cNvSpPr/>
          <p:nvPr/>
        </p:nvSpPr>
        <p:spPr>
          <a:xfrm>
            <a:off x="1143000" y="379476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3A2A21"/>
                </a:solidFill>
                <a:effectLst/>
                <a:uFillTx/>
                <a:latin typeface="Hiragino Sans"/>
                <a:ea typeface="Hiragino Sans"/>
              </a:rPr>
              <a:t>検討中の次の一手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4"/>
          <p:cNvSpPr/>
          <p:nvPr/>
        </p:nvSpPr>
        <p:spPr>
          <a:xfrm>
            <a:off x="1143000" y="408744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「楽譜ファイルを正解にして照合する」アプローチへの転換。正誤が判定でき、和音も検証可能な問いになる。</a:t>
            </a: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PRD</a:t>
            </a:r>
            <a:r>
              <a:rPr lang="ja-JP" sz="1150" b="0" u="none" strike="noStrike">
                <a:solidFill>
                  <a:srgbClr val="2B2B2B"/>
                </a:solidFill>
                <a:effectLst/>
                <a:uFillTx/>
                <a:latin typeface="Hiragino Sans"/>
                <a:ea typeface="Hiragino Sans"/>
              </a:rPr>
              <a:t>・設計を別途作成済み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LibreOffice/26.8.0.3$MacOSX_AARCH64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2026-09-19T03:34:41Z</dcterms:created>
  <dc:creator>yk</dc:creator>
  <dc:description/>
  <dc:language>ja-JP</dc:language>
  <cp:lastModifiedBy/>
  <dcterms:modified xsi:type="dcterms:W3CDTF">2026-09-19T17:33:01Z</dcterms:modified>
  <cp:revision>2</cp:revision>
  <dc:subject>PptxGenJS Presentation</dc:subject>
  <dc:title>ギター上達診断アプリ 中間報告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