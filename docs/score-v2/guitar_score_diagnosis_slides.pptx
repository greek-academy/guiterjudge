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前身の自己比較アプリで得た成果と限界を踏まえ、楽譜ファイルを正解にした照合へ方針を切り替える提案。残り3ヶ月の計画まで話す。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8月14日に PRD、9月1日に動く MVP。9月9日に安定度スコアを ms 単位の指標に作り直した。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最大の問題は1つ目。正解データを持たない限り、理論的に区別できない。2つ目・3つ目は音符起こしの精度問題で、正解があれば影響を抑えられる。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正解の音符列とその時刻が録音前に分かっているので、各音の周りに時間窓を置いて「鳴ったか」を見ればよい。前身の録音同士のアライメントは不要になる。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Goals は 2 つに絞った。v1 は照合の価値を確かめることに集中する。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Soundslice は紙のスキャンも同期再生も持つが判定はしない。Yousician は判定するがライブラリ内の曲だけ。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曲全体を入れる必要はない。引っかかる数小節だけ打ち込めば使える。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PDF・紙が自分の主な楽譜なのは事実だが、練習区間は短いので打ち込みで賄う。OMR は照合の価値が確認できてから入口を広げる判断にする。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前身との違いは期待音符列が入力にあること。録音同士のアライメントは、格子から外れた時の保険に降格する。重い処理は Web Worker 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 が成立すれば、前身で原理的に扱えなかったストロークを「構成音が全部鳴ったか」で初めて測れる。押さえ損ねた弦が隣の弦の倍音で埋まる偽陽性を M-A で確かめる。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緑で埋めると楽譜が読めなくなるので、一致は描かない。alphaTab の座標参照から音符の位置を取り、SVG を重ねる。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残り期間のリスク：前身と本提案の両方は進められない。最後のスライドで判断を仰ぐ。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前身の資産（録音・前処理・拍格子・アライメント・履歴 UI・合成音基盤・PWA シェル）を持ち越すので、M-B は5週で見込める。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切り替えの判断と期間の判断を仰ぐ。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2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AEA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120640" y="1371600"/>
            <a:ext cx="4023360" cy="0"/>
          </a:xfrm>
          <a:prstGeom prst="line">
            <a:avLst/>
          </a:prstGeom>
          <a:noFill/>
          <a:ln w="9525">
            <a:solidFill>
              <a:srgbClr val="6B55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0" y="1572768"/>
            <a:ext cx="4023360" cy="0"/>
          </a:xfrm>
          <a:prstGeom prst="line">
            <a:avLst/>
          </a:prstGeom>
          <a:noFill/>
          <a:ln w="9525">
            <a:solidFill>
              <a:srgbClr val="6B55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0" y="1773936"/>
            <a:ext cx="4023360" cy="0"/>
          </a:xfrm>
          <a:prstGeom prst="line">
            <a:avLst/>
          </a:prstGeom>
          <a:noFill/>
          <a:ln w="9525">
            <a:solidFill>
              <a:srgbClr val="6B55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0" y="1975104"/>
            <a:ext cx="4023360" cy="0"/>
          </a:xfrm>
          <a:prstGeom prst="line">
            <a:avLst/>
          </a:prstGeom>
          <a:noFill/>
          <a:ln w="9525">
            <a:solidFill>
              <a:srgbClr val="6B55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0" y="2176272"/>
            <a:ext cx="4023360" cy="0"/>
          </a:xfrm>
          <a:prstGeom prst="line">
            <a:avLst/>
          </a:prstGeom>
          <a:noFill/>
          <a:ln w="9525">
            <a:solidFill>
              <a:srgbClr val="6B55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1389888"/>
            <a:ext cx="237744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15000" y="832104"/>
            <a:ext cx="0" cy="640080"/>
          </a:xfrm>
          <a:prstGeom prst="line">
            <a:avLst/>
          </a:prstGeom>
          <a:noFill/>
          <a:ln w="19050">
            <a:solidFill>
              <a:srgbClr val="D982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0" y="1591056"/>
            <a:ext cx="237744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55080" y="1033272"/>
            <a:ext cx="0" cy="640080"/>
          </a:xfrm>
          <a:prstGeom prst="line">
            <a:avLst/>
          </a:prstGeom>
          <a:noFill/>
          <a:ln w="19050">
            <a:solidFill>
              <a:srgbClr val="D982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66560" y="1490472"/>
            <a:ext cx="237744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95160" y="932688"/>
            <a:ext cx="0" cy="640080"/>
          </a:xfrm>
          <a:prstGeom prst="line">
            <a:avLst/>
          </a:prstGeom>
          <a:noFill/>
          <a:ln w="19050">
            <a:solidFill>
              <a:srgbClr val="D982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06640" y="1691640"/>
            <a:ext cx="237744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35240" y="1133856"/>
            <a:ext cx="0" cy="640080"/>
          </a:xfrm>
          <a:prstGeom prst="line">
            <a:avLst/>
          </a:prstGeom>
          <a:noFill/>
          <a:ln w="19050">
            <a:solidFill>
              <a:srgbClr val="D982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1389888"/>
            <a:ext cx="237744" cy="1645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66760" y="832104"/>
            <a:ext cx="0" cy="640080"/>
          </a:xfrm>
          <a:prstGeom prst="line">
            <a:avLst/>
          </a:prstGeom>
          <a:noFill/>
          <a:ln w="19050">
            <a:solidFill>
              <a:srgbClr val="D9822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1005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AEA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Alpha+ プロジェクト ｜ 中間報告後の方針転換案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141732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ギター楽譜照合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診断アプリ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1546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982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自己比較から、楽譜を正解にした照合へ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AEA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2026年9月18日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2A2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前身で作ったもの（2026年8月〜9月）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「ギター上達診断アプリ」— 引っかかるフレーズを録音し、過去の自分と比較する PWA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" cy="54864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087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3533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A2A2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スレッド単位で録音し、過去テイクと自己比較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70078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「引っかかるフレーズ」を1スレッドにして、テイクを積み重ねる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423160"/>
            <a:ext cx="548640" cy="54864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6032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88720" y="24048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A2A2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ブラウザ内で音符起こし、サーバーなし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188720" y="275234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Basic Pitch（TensorFlow.js）を完全クライアントサイドで実行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3474720"/>
            <a:ext cx="548640" cy="54864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61188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188720" y="34564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A2A2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メトロノーム格子で ms 単位のタイミング指標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188720" y="380390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0〜100 の合成スコアを廃止し、単位のある指標に分解（9/9）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760720" y="1325880"/>
            <a:ext cx="2926080" cy="3200400"/>
          </a:xfrm>
          <a:prstGeom prst="roundRect">
            <a:avLst>
              <a:gd name="adj" fmla="val 2500"/>
            </a:avLst>
          </a:prstGeom>
          <a:solidFill>
            <a:srgbClr val="F7E6D3"/>
          </a:solidFill>
          <a:ln w="12700">
            <a:solidFill>
              <a:srgbClr val="F7E6D3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943600" y="1463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A2A2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前身のコアループ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943600" y="1856232"/>
            <a:ext cx="274320" cy="27432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943600" y="1856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6309360" y="18470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スレッドを作る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080760" y="2130552"/>
            <a:ext cx="0" cy="210312"/>
          </a:xfrm>
          <a:prstGeom prst="line">
            <a:avLst/>
          </a:prstGeom>
          <a:noFill/>
          <a:ln w="12700">
            <a:solidFill>
              <a:srgbClr val="D9822B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943600" y="2368296"/>
            <a:ext cx="274320" cy="27432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5943600" y="2368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6309360" y="23591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弾いて録音する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6080760" y="2642616"/>
            <a:ext cx="0" cy="210312"/>
          </a:xfrm>
          <a:prstGeom prst="line">
            <a:avLst/>
          </a:prstGeom>
          <a:noFill/>
          <a:ln w="12700">
            <a:solidFill>
              <a:srgbClr val="D9822B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943600" y="2880360"/>
            <a:ext cx="274320" cy="27432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5943600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Text 24"/>
          <p:cNvSpPr txBox="1"/>
          <p:nvPr/>
        </p:nvSpPr>
        <p:spPr>
          <a:xfrm>
            <a:off x="6309360" y="28712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直前のテイクと比較</a:t>
            </a:r>
            <a:endParaRPr lang="en-US" sz="1250" dirty="0"/>
          </a:p>
        </p:txBody>
      </p:sp>
      <p:sp>
        <p:nvSpPr>
          <p:cNvPr id="30" name="Shape 25"/>
          <p:cNvSpPr/>
          <p:nvPr/>
        </p:nvSpPr>
        <p:spPr>
          <a:xfrm>
            <a:off x="6080760" y="3154680"/>
            <a:ext cx="0" cy="210312"/>
          </a:xfrm>
          <a:prstGeom prst="line">
            <a:avLst/>
          </a:prstGeom>
          <a:noFill/>
          <a:ln w="12700">
            <a:solidFill>
              <a:srgbClr val="D9822B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5943600" y="3392424"/>
            <a:ext cx="274320" cy="27432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5943600" y="3392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Text 28"/>
          <p:cNvSpPr txBox="1"/>
          <p:nvPr/>
        </p:nvSpPr>
        <p:spPr>
          <a:xfrm>
            <a:off x="6309360" y="3383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ズレとばらつきを見る</a:t>
            </a:r>
            <a:endParaRPr lang="en-US" sz="1250" dirty="0"/>
          </a:p>
        </p:txBody>
      </p:sp>
      <p:sp>
        <p:nvSpPr>
          <p:cNvPr id="34" name="Shape 29"/>
          <p:cNvSpPr/>
          <p:nvPr/>
        </p:nvSpPr>
        <p:spPr>
          <a:xfrm>
            <a:off x="6080760" y="3666744"/>
            <a:ext cx="0" cy="210312"/>
          </a:xfrm>
          <a:prstGeom prst="line">
            <a:avLst/>
          </a:prstGeom>
          <a:noFill/>
          <a:ln w="12700">
            <a:solidFill>
              <a:srgbClr val="D9822B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5943600" y="3904488"/>
            <a:ext cx="274320" cy="27432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5943600" y="3904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</a:t>
            </a:r>
            <a:endParaRPr lang="en-US" sz="1100" dirty="0"/>
          </a:p>
        </p:txBody>
      </p:sp>
      <p:sp>
        <p:nvSpPr>
          <p:cNvPr id="37" name="Text 32"/>
          <p:cNvSpPr txBox="1"/>
          <p:nvPr/>
        </p:nvSpPr>
        <p:spPr>
          <a:xfrm>
            <a:off x="6309360" y="38953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安定したら「解決済み」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2A2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前身の実測で分かった限界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合成音19テイク・実機テストで判明。いずれも作り込みでは解消できない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08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D982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正誤 ×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2A2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正しさが判定できない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7432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自己比較は「一貫性」しか測れない。毎回同じ間違いをしても「安定」と診断される。構造的な限界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46120" y="137160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720" y="1508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D982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 点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2A2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ストローク和音が扱えない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7432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6音同時の撥弦を Basic Pitch が分解できず、テイクごとに検出がばらついて安定度が 0 に張り付いた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35040" y="137160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63640" y="1508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D982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25 %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2A2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音の分割による過剰検出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27432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前の音が響く中で次を弾くと、鳴り続けている音にも新しいオンセットが立つ。検出440音のうち108音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回避策の「お手本テイク」は、お手本を用意する手間が本体の価値を上回った。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2A2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転換：「正解」を持つ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基準を「過去の自分」から「楽譜ファイル」に置き換える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566160" cy="2651760"/>
          </a:xfrm>
          <a:prstGeom prst="roundRect">
            <a:avLst>
              <a:gd name="adj" fmla="val 2759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08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前身：自己比較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6596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基準＝過去の自分の録音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問い＝「前回と同じように弾けたか」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音符起こしの精度に全面依存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和音は原理的に対象外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60520" y="2697480"/>
            <a:ext cx="731520" cy="0"/>
          </a:xfrm>
          <a:prstGeom prst="line">
            <a:avLst/>
          </a:prstGeom>
          <a:noFill/>
          <a:ln w="19050">
            <a:solidFill>
              <a:srgbClr val="D9822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029200" y="1371600"/>
            <a:ext cx="3657600" cy="2651760"/>
          </a:xfrm>
          <a:prstGeom prst="roundRect">
            <a:avLst>
              <a:gd name="adj" fmla="val 2759"/>
            </a:avLst>
          </a:prstGeom>
          <a:solidFill>
            <a:srgbClr val="F7E6D3"/>
          </a:solidFill>
          <a:ln w="12700">
            <a:solidFill>
              <a:srgbClr val="F7E6D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57800" y="1508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A2A2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本提案：楽譜照合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257800" y="196596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基準＝楽譜ファイル（MusicXML / Guitar Pro）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問い＝「期待した音が、その時刻に鳴ったか」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音符起こしを介さない照合方式も選べる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和音は「構成音が全部鳴ったか」という検証可能な問いになる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A2A2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「何の音か当てる」問題が「鳴ったかを確かめる」問題に変わる。前身の限界①は根本から消え、②③は影響を抑えられる。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2A2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プロダクト概要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手元の楽譜ファイルを正解にして、演奏を音符単位で照合する練習アプリ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120640" cy="1143000"/>
          </a:xfrm>
          <a:prstGeom prst="roundRect">
            <a:avLst>
              <a:gd name="adj" fmla="val 640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45920"/>
            <a:ext cx="594360" cy="59436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670" y="1794510"/>
            <a:ext cx="297180" cy="2971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15087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2A2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Goal 1（核）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18288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どの小節のどの音が「間違い・欠落・遅れ」かを、演奏直後に音符単位で確認できる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2697480"/>
            <a:ext cx="5120640" cy="1143000"/>
          </a:xfrm>
          <a:prstGeom prst="roundRect">
            <a:avLst>
              <a:gd name="adj" fmla="val 640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2971800"/>
            <a:ext cx="594360" cy="59436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670" y="3120390"/>
            <a:ext cx="297180" cy="2971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17320" y="28346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2A2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Goal 2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1417320" y="31546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小節範囲とテンポを決めた「練習区間」ごとに履歴を残し、テンポを上げながら弾けるようになる過程が見える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852160" y="1371600"/>
            <a:ext cx="2834640" cy="2468880"/>
          </a:xfrm>
          <a:prstGeom prst="roundRect">
            <a:avLst>
              <a:gd name="adj" fmla="val 2963"/>
            </a:avLst>
          </a:prstGeom>
          <a:solidFill>
            <a:srgbClr val="F7E6D3"/>
          </a:solidFill>
          <a:ln w="12700">
            <a:solidFill>
              <a:srgbClr val="F7E6D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035040" y="1554480"/>
            <a:ext cx="548640" cy="548640"/>
          </a:xfrm>
          <a:prstGeom prst="ellipse">
            <a:avLst/>
          </a:prstGeom>
          <a:solidFill>
            <a:srgbClr val="3A2A21"/>
          </a:solidFill>
          <a:ln w="12700">
            <a:solidFill>
              <a:srgbClr val="3A2A2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69164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720840" y="1645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A2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想定ユーザー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6035040" y="2240280"/>
            <a:ext cx="2514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30代社会人、独学3年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市販の楽譜集（五線譜）で練習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弾けているつもりの箇所が本当に楽譜通りか分からない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練習は PC の前。数小節を打ち込む手間は許容できる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前身と同じく完全クライアントサイド。楽譜も音声も端末から出さない。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2A2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既存アプリとの違い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「楽譜を持ち込む」と「演奏を判定する」の両方を持つものがない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194560"/>
                <a:gridCol w="2286000"/>
                <a:gridCol w="23774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Yousician / Rocksmith 系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Soundslice / Guitar Pro 系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本アプリ</a:t>
                      </a:r>
                      <a:endParaRPr lang="en-US" sz="12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822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楽譜の出所</a:t>
                      </a:r>
                      <a:endParaRPr lang="en-US" sz="11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アプリ内ライブラリ</a:t>
                      </a:r>
                      <a:endParaRPr lang="en-US" sz="11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ユーザーの楽譜を表示・再生</a:t>
                      </a:r>
                      <a:endParaRPr lang="en-US" sz="11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21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ユーザーの楽譜ファイル</a:t>
                      </a:r>
                      <a:endParaRPr lang="en-US" sz="11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6D3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演奏の判定</a:t>
                      </a:r>
                      <a:endParaRPr lang="en-US" sz="11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あり（ライブラリ曲のみ）</a:t>
                      </a:r>
                      <a:endParaRPr lang="en-US" sz="11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なし（再生・練習補助のみ）</a:t>
                      </a:r>
                      <a:endParaRPr lang="en-US" sz="11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21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あり（取り込んだ楽譜なら何でも）</a:t>
                      </a:r>
                      <a:endParaRPr lang="en-US" sz="11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6D3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フィードバック</a:t>
                      </a:r>
                      <a:endParaRPr lang="en-US" sz="11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ゲーム的な正解率</a:t>
                      </a:r>
                      <a:endParaRPr lang="en-US" sz="11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—</a:t>
                      </a:r>
                      <a:endParaRPr lang="en-US" sz="11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21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小節×音符単位の正誤とズレ、履歴</a:t>
                      </a:r>
                      <a:endParaRPr lang="en-US" sz="115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6D3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A2A2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本アプリはこの2つの接続部を作る。楽譜ライブラリを持たず、判定だけに集中する。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2A2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コアループ（Key Scenarios）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楽譜ファイルを取り込んでから、テンポを上げてクリアするまで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86968" y="1417320"/>
            <a:ext cx="640080" cy="64008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" y="1577340"/>
            <a:ext cx="320040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645920" y="1737360"/>
            <a:ext cx="813816" cy="0"/>
          </a:xfrm>
          <a:prstGeom prst="line">
            <a:avLst/>
          </a:prstGeom>
          <a:noFill/>
          <a:ln w="19050">
            <a:solidFill>
              <a:srgbClr val="CFCFCF"/>
            </a:solidFill>
            <a:prstDash val="solid"/>
            <a:tailEnd type="triangle"/>
          </a:ln>
        </p:spPr>
      </p:sp>
      <p:sp>
        <p:nvSpPr>
          <p:cNvPr id="8" name="Text 5"/>
          <p:cNvSpPr txBox="1"/>
          <p:nvPr/>
        </p:nvSpPr>
        <p:spPr>
          <a:xfrm>
            <a:off x="457200" y="21945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82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4688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2A2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楽譜を取り込む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063240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MusicXML / Guitar Pro。紙の曲は練習区間だけ MuseScore で打ち込む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569464" y="1417320"/>
            <a:ext cx="640080" cy="64008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484" y="1577340"/>
            <a:ext cx="320040" cy="3200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328416" y="1737360"/>
            <a:ext cx="813816" cy="0"/>
          </a:xfrm>
          <a:prstGeom prst="line">
            <a:avLst/>
          </a:prstGeom>
          <a:noFill/>
          <a:ln w="19050">
            <a:solidFill>
              <a:srgbClr val="CFCFCF"/>
            </a:solidFill>
            <a:prstDash val="solid"/>
            <a:tailEnd type="triangle"/>
          </a:ln>
        </p:spPr>
      </p:sp>
      <p:sp>
        <p:nvSpPr>
          <p:cNvPr id="14" name="Text 10"/>
          <p:cNvSpPr txBox="1"/>
          <p:nvPr/>
        </p:nvSpPr>
        <p:spPr>
          <a:xfrm>
            <a:off x="2139696" y="21945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82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2139696" y="24688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2A2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練習区間を作る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2139696" y="3063240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楽譜上で小節範囲を選び、テンポ（BPM）を決める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251960" y="1417320"/>
            <a:ext cx="640080" cy="64008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980" y="1577340"/>
            <a:ext cx="320040" cy="32004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010912" y="1737360"/>
            <a:ext cx="813816" cy="0"/>
          </a:xfrm>
          <a:prstGeom prst="line">
            <a:avLst/>
          </a:prstGeom>
          <a:noFill/>
          <a:ln w="19050">
            <a:solidFill>
              <a:srgbClr val="CFCFCF"/>
            </a:solidFill>
            <a:prstDash val="solid"/>
            <a:tailEnd type="triangle"/>
          </a:ln>
        </p:spPr>
      </p:sp>
      <p:sp>
        <p:nvSpPr>
          <p:cNvPr id="20" name="Text 15"/>
          <p:cNvSpPr txBox="1"/>
          <p:nvPr/>
        </p:nvSpPr>
        <p:spPr>
          <a:xfrm>
            <a:off x="3822192" y="21945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82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3822192" y="24688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2A2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クリック付きで録音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3822192" y="3063240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カウントイン → クリックに合わせて弾く。時間軸が楽譜と結びつく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5934456" y="1417320"/>
            <a:ext cx="640080" cy="64008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476" y="1577340"/>
            <a:ext cx="320040" cy="32004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6693408" y="1737360"/>
            <a:ext cx="813816" cy="0"/>
          </a:xfrm>
          <a:prstGeom prst="line">
            <a:avLst/>
          </a:prstGeom>
          <a:noFill/>
          <a:ln w="19050">
            <a:solidFill>
              <a:srgbClr val="CFCFCF"/>
            </a:solidFill>
            <a:prstDash val="solid"/>
            <a:tailEnd type="triangle"/>
          </a:ln>
        </p:spPr>
      </p:sp>
      <p:sp>
        <p:nvSpPr>
          <p:cNvPr id="26" name="Text 20"/>
          <p:cNvSpPr txBox="1"/>
          <p:nvPr/>
        </p:nvSpPr>
        <p:spPr>
          <a:xfrm>
            <a:off x="5504688" y="21945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82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5504688" y="24688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2A2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音符単位の結果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5504688" y="3063240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楽譜上に正誤（一致・音高違い・欠落・余分）とズレ（ms）を重ねる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7616952" y="1417320"/>
            <a:ext cx="640080" cy="64008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6972" y="1577340"/>
            <a:ext cx="320040" cy="32004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187184" y="21945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82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25"/>
          <p:cNvSpPr txBox="1"/>
          <p:nvPr/>
        </p:nvSpPr>
        <p:spPr>
          <a:xfrm>
            <a:off x="7187184" y="24688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2A2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テンポを上げる</a:t>
            </a:r>
            <a:endParaRPr lang="en-US" sz="1300" dirty="0"/>
          </a:p>
        </p:txBody>
      </p:sp>
      <p:sp>
        <p:nvSpPr>
          <p:cNvPr id="33" name="Text 26"/>
          <p:cNvSpPr txBox="1"/>
          <p:nvPr/>
        </p:nvSpPr>
        <p:spPr>
          <a:xfrm>
            <a:off x="7187184" y="3063240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テンポ別・日付別の履歴。安定したら区間を「クリア」に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2A2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v1 の割り切り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残り約3ヶ月で「照合の価値」を確かめることに集中する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2651760"/>
          </a:xfrm>
          <a:prstGeom prst="roundRect">
            <a:avLst>
              <a:gd name="adj" fmla="val 2759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087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4300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7D5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やる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01168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MusicXML / Guitar Pro の取り込みと楽譜表示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音高とタイミングの判定（音符単位）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単音・分散和音は確実に。ストロークは検証次第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練習区間ごとの履歴とクリア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PC ブラウザの PWA、完全クライアントサイド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663440" y="1371600"/>
            <a:ext cx="4023360" cy="2651760"/>
          </a:xfrm>
          <a:prstGeom prst="roundRect">
            <a:avLst>
              <a:gd name="adj" fmla="val 2759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5087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4924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やらない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892040" y="201168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PDF・紙の楽譜の認識（OMR）→ 余裕があれば試す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弦・フレットの判定、テクニック（ベンド等）の判定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リアルタイム（演奏中）のフィードバック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バックエンド、アカウント、外部 API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曲ライブラリ、ソーシャル、通知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OMR を外した理由：ブラウザで動く実用的なライブラリがなく、認識ミスの修正 UI まで含めると本体に匹敵する規模になる。紙の曲は数小節を打ち込む方が早い。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2A2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アーキテクチャ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楽譜側は alphaTab に任せ、照合エンジンだけ差し替え可能に作る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80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982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楽譜側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737360" cy="868680"/>
          </a:xfrm>
          <a:prstGeom prst="roundRect">
            <a:avLst>
              <a:gd name="adj" fmla="val 6316"/>
            </a:avLst>
          </a:prstGeom>
          <a:solidFill>
            <a:srgbClr val="F7E6D3"/>
          </a:solidFill>
          <a:ln w="12700">
            <a:solidFill>
              <a:srgbClr val="F7E6D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276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楽譜ファイル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920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MusicXML / Guitar Pro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40280" y="1984248"/>
            <a:ext cx="365760" cy="0"/>
          </a:xfrm>
          <a:prstGeom prst="line">
            <a:avLst/>
          </a:prstGeom>
          <a:noFill/>
          <a:ln w="19050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651760" y="1554480"/>
            <a:ext cx="2194560" cy="868680"/>
          </a:xfrm>
          <a:prstGeom prst="roundRect">
            <a:avLst>
              <a:gd name="adj" fmla="val 6316"/>
            </a:avLst>
          </a:prstGeom>
          <a:solidFill>
            <a:srgbClr val="F7E6D3"/>
          </a:solidFill>
          <a:ln w="12700">
            <a:solidFill>
              <a:srgbClr val="F7E6D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43200" y="1627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alphaTab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1920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表示・MIDI 生成・座標参照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92040" y="1984248"/>
            <a:ext cx="365760" cy="0"/>
          </a:xfrm>
          <a:prstGeom prst="line">
            <a:avLst/>
          </a:prstGeom>
          <a:noFill/>
          <a:ln w="19050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303520" y="1554480"/>
            <a:ext cx="3383280" cy="868680"/>
          </a:xfrm>
          <a:prstGeom prst="roundRect">
            <a:avLst>
              <a:gd name="adj" fmla="val 6316"/>
            </a:avLst>
          </a:prstGeom>
          <a:solidFill>
            <a:srgbClr val="F7E6D3"/>
          </a:solidFill>
          <a:ln w="12700">
            <a:solidFill>
              <a:srgbClr val="F7E6D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94960" y="1627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期待音符列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394960" y="1920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リピート展開 → 区間 BPM で秒 / オクターブ補正 / 同時音スロット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2606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演奏側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880360"/>
            <a:ext cx="1737360" cy="868680"/>
          </a:xfrm>
          <a:prstGeom prst="roundRect">
            <a:avLst>
              <a:gd name="adj" fmla="val 6316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29535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クリック付き録音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246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メトロノーム・カウントイン（前身流用）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40280" y="3310128"/>
            <a:ext cx="365760" cy="0"/>
          </a:xfrm>
          <a:prstGeom prst="line">
            <a:avLst/>
          </a:prstGeom>
          <a:noFill/>
          <a:ln w="19050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651760" y="2880360"/>
            <a:ext cx="1371600" cy="868680"/>
          </a:xfrm>
          <a:prstGeom prst="roundRect">
            <a:avLst>
              <a:gd name="adj" fmla="val 6316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743200" y="29535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前処理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743200" y="32461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22050Hz・トリム・正規化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069080" y="3310128"/>
            <a:ext cx="365760" cy="0"/>
          </a:xfrm>
          <a:prstGeom prst="line">
            <a:avLst/>
          </a:prstGeom>
          <a:noFill/>
          <a:ln w="19050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480560" y="2880360"/>
            <a:ext cx="1737360" cy="868680"/>
          </a:xfrm>
          <a:prstGeom prst="roundRect">
            <a:avLst>
              <a:gd name="adj" fmla="val 6316"/>
            </a:avLst>
          </a:prstGeom>
          <a:solidFill>
            <a:srgbClr val="3A2A21"/>
          </a:solidFill>
          <a:ln w="12700">
            <a:solidFill>
              <a:srgbClr val="3A2A2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0" y="29535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照合エンジン A/B/C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3246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9AEA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同じインターフェース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63640" y="3310128"/>
            <a:ext cx="365760" cy="0"/>
          </a:xfrm>
          <a:prstGeom prst="line">
            <a:avLst/>
          </a:prstGeom>
          <a:noFill/>
          <a:ln w="19050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675120" y="288036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766560" y="2953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Scorer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766560" y="3246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許容ルール → 正誤・ms・集計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349240" y="2423160"/>
            <a:ext cx="9144" cy="457200"/>
          </a:xfrm>
          <a:prstGeom prst="line">
            <a:avLst/>
          </a:prstGeom>
          <a:noFill/>
          <a:ln w="25400">
            <a:solidFill>
              <a:srgbClr val="D9822B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57200" y="3977640"/>
            <a:ext cx="3931920" cy="731520"/>
          </a:xfrm>
          <a:prstGeom prst="roundRect">
            <a:avLst>
              <a:gd name="adj" fmla="val 750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48640" y="40507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楽譜上に可視化・同期再生・履歴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43434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alphaTab の座標参照の上に SVG を重ねる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0" y="3977640"/>
            <a:ext cx="4114800" cy="731520"/>
          </a:xfrm>
          <a:prstGeom prst="roundRect">
            <a:avLst>
              <a:gd name="adj" fmla="val 750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663440" y="40507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Dexie（IndexedDB）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4663440" y="4343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scores / sections / takes / matchResults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680960" y="3749040"/>
            <a:ext cx="9144" cy="228600"/>
          </a:xfrm>
          <a:prstGeom prst="line">
            <a:avLst/>
          </a:prstGeom>
          <a:noFill/>
          <a:ln w="25400">
            <a:solidFill>
              <a:srgbClr val="6E6E6E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2A2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照合エンジンは3案を並べて検証する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前身は Basic Pitch 一択だった。同じインターフェースの裏に置き、M-A で既定を決める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554480"/>
            <a:ext cx="548640" cy="548640"/>
          </a:xfrm>
          <a:prstGeom prst="ellipse">
            <a:avLst/>
          </a:prstGeom>
          <a:solidFill>
            <a:srgbClr val="3A2A21"/>
          </a:solidFill>
          <a:ln w="12700">
            <a:solidFill>
              <a:srgbClr val="3A2A2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194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2A2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Basic Pitch ＋ 吸着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7432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前身の資産。期待音の時間窓の中に、その音高の検出があるかを見る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520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弱点：ストローク和音、16分音符級の速さ（前身で実測）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137160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0" y="1554480"/>
            <a:ext cx="548640" cy="548640"/>
          </a:xfrm>
          <a:prstGeom prst="ellipse">
            <a:avLst/>
          </a:prstGeom>
          <a:solidFill>
            <a:srgbClr val="3A2A21"/>
          </a:solidFill>
          <a:ln w="12700">
            <a:solidFill>
              <a:srgbClr val="3A2A2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7472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194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2A2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単音ピッチトラッカー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27432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YIN 系を TypeScript で小さく実装。窓内の基本周波数の中央値で判定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474720" y="3520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対象：単旋律の区間のみ。軽くて速い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35040" y="137160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7E6D3"/>
          </a:solidFill>
          <a:ln w="12700">
            <a:solidFill>
              <a:srgbClr val="F7E6D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1554480"/>
            <a:ext cx="548640" cy="548640"/>
          </a:xfrm>
          <a:prstGeom prst="ellipse">
            <a:avLst/>
          </a:prstGeom>
          <a:solidFill>
            <a:srgbClr val="3A2A21"/>
          </a:solidFill>
          <a:ln w="12700">
            <a:solidFill>
              <a:srgbClr val="3A2A2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636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2194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2A2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楽譜情報を使ったスペクトル照合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27432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音符起こしを介さない。期待音の周波数帯域にエネルギーの立ち上がりがあるかを見る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263640" y="3520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和音・ストローク向き。倍音衝突の偽陽性が課題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251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A2A2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仮説：単音の区間は B、和音を含む区間は C を既定にし、A は比較用に残す。合成音への誤り注入と自分の実録音で、検出率と誤警報率を測って決める。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2A2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結果の見せ方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一致した音は描かない。音高違い・欠落・遅れ・余分だけを楽譜の上に重ねる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539496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011680"/>
            <a:ext cx="4846320" cy="0"/>
          </a:xfrm>
          <a:prstGeom prst="line">
            <a:avLst/>
          </a:prstGeom>
          <a:noFill/>
          <a:ln w="9525">
            <a:solidFill>
              <a:srgbClr val="8C7B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139696"/>
            <a:ext cx="4846320" cy="0"/>
          </a:xfrm>
          <a:prstGeom prst="line">
            <a:avLst/>
          </a:prstGeom>
          <a:noFill/>
          <a:ln w="9525">
            <a:solidFill>
              <a:srgbClr val="8C7B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267712"/>
            <a:ext cx="4846320" cy="0"/>
          </a:xfrm>
          <a:prstGeom prst="line">
            <a:avLst/>
          </a:prstGeom>
          <a:noFill/>
          <a:ln w="9525">
            <a:solidFill>
              <a:srgbClr val="8C7B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395728"/>
            <a:ext cx="4846320" cy="0"/>
          </a:xfrm>
          <a:prstGeom prst="line">
            <a:avLst/>
          </a:prstGeom>
          <a:noFill/>
          <a:ln w="9525">
            <a:solidFill>
              <a:srgbClr val="8C7B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523744"/>
            <a:ext cx="4846320" cy="0"/>
          </a:xfrm>
          <a:prstGeom prst="line">
            <a:avLst/>
          </a:prstGeom>
          <a:noFill/>
          <a:ln w="9525">
            <a:solidFill>
              <a:srgbClr val="8C7B7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2011680"/>
            <a:ext cx="0" cy="512064"/>
          </a:xfrm>
          <a:prstGeom prst="line">
            <a:avLst/>
          </a:prstGeom>
          <a:noFill/>
          <a:ln w="12700">
            <a:solidFill>
              <a:srgbClr val="8C7B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31720" y="2011680"/>
            <a:ext cx="0" cy="512064"/>
          </a:xfrm>
          <a:prstGeom prst="line">
            <a:avLst/>
          </a:prstGeom>
          <a:noFill/>
          <a:ln w="12700">
            <a:solidFill>
              <a:srgbClr val="8C7B7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31920" y="2011680"/>
            <a:ext cx="0" cy="512064"/>
          </a:xfrm>
          <a:prstGeom prst="line">
            <a:avLst/>
          </a:prstGeom>
          <a:noFill/>
          <a:ln w="12700">
            <a:solidFill>
              <a:srgbClr val="8C7B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77840" y="2011680"/>
            <a:ext cx="0" cy="512064"/>
          </a:xfrm>
          <a:prstGeom prst="line">
            <a:avLst/>
          </a:prstGeom>
          <a:noFill/>
          <a:ln w="12700">
            <a:solidFill>
              <a:srgbClr val="8C7B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2331720"/>
            <a:ext cx="182880" cy="128016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88136" y="1847088"/>
            <a:ext cx="0" cy="54864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80160" y="2267712"/>
            <a:ext cx="182880" cy="128016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53896" y="1783080"/>
            <a:ext cx="0" cy="54864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0" y="2203704"/>
            <a:ext cx="182880" cy="128016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19656" y="1719072"/>
            <a:ext cx="0" cy="54864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11680" y="2139696"/>
            <a:ext cx="182880" cy="128016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85416" y="1655064"/>
            <a:ext cx="0" cy="54864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14600" y="2203704"/>
            <a:ext cx="182880" cy="128016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88336" y="1719072"/>
            <a:ext cx="0" cy="54864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80360" y="2139696"/>
            <a:ext cx="182880" cy="128016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54096" y="1655064"/>
            <a:ext cx="0" cy="54864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16352" y="2057400"/>
            <a:ext cx="310896" cy="292608"/>
          </a:xfrm>
          <a:prstGeom prst="roundRect">
            <a:avLst>
              <a:gd name="adj" fmla="val 12500"/>
            </a:avLst>
          </a:prstGeom>
          <a:solidFill>
            <a:srgbClr val="FFFFFF">
              <a:alpha val="0"/>
            </a:srgbClr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743200" y="135331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F♯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46120" y="2075688"/>
            <a:ext cx="182880" cy="128016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19856" y="1591056"/>
            <a:ext cx="0" cy="54864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11880" y="2011680"/>
            <a:ext cx="182880" cy="128016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85616" y="1527048"/>
            <a:ext cx="0" cy="54864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0" y="2660904"/>
            <a:ext cx="320040" cy="0"/>
          </a:xfrm>
          <a:prstGeom prst="line">
            <a:avLst/>
          </a:prstGeom>
          <a:noFill/>
          <a:ln w="19050">
            <a:solidFill>
              <a:srgbClr val="D9822B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3474720" y="272491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82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+62ms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114800" y="2331720"/>
            <a:ext cx="182880" cy="128016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88536" y="1847088"/>
            <a:ext cx="0" cy="54864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480560" y="2267712"/>
            <a:ext cx="182880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E6E6E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4654296" y="1783080"/>
            <a:ext cx="0" cy="548640"/>
          </a:xfrm>
          <a:prstGeom prst="line">
            <a:avLst/>
          </a:prstGeom>
          <a:noFill/>
          <a:ln w="12700">
            <a:solidFill>
              <a:srgbClr val="6E6E6E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4846320" y="2203704"/>
            <a:ext cx="182880" cy="128016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20056" y="1719072"/>
            <a:ext cx="0" cy="54864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212080" y="2139696"/>
            <a:ext cx="182880" cy="128016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385816" y="1655064"/>
            <a:ext cx="0" cy="54864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983480" y="2633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82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+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731520" y="3063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小節ごとの集計（欠落＋音高違いの割合）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31520" y="3310128"/>
            <a:ext cx="1572768" cy="274320"/>
          </a:xfrm>
          <a:prstGeom prst="rect">
            <a:avLst/>
          </a:prstGeom>
          <a:solidFill>
            <a:srgbClr val="E8E8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31520" y="331012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小節 1　0%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350008" y="3310128"/>
            <a:ext cx="1572768" cy="274320"/>
          </a:xfrm>
          <a:prstGeom prst="rect">
            <a:avLst/>
          </a:prstGeom>
          <a:solidFill>
            <a:srgbClr val="F3C9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2350008" y="331012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小節 2　25%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968496" y="3310128"/>
            <a:ext cx="1572768" cy="274320"/>
          </a:xfrm>
          <a:prstGeom prst="rect">
            <a:avLst/>
          </a:prstGeom>
          <a:solidFill>
            <a:srgbClr val="E9A57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3968496" y="331012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小節 3　33%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126480" y="1490472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446520" y="1417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A2A2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音高違い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6446520" y="163677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赤枠と検出音名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126480" y="1965960"/>
            <a:ext cx="201168" cy="201168"/>
          </a:xfrm>
          <a:prstGeom prst="ellipse">
            <a:avLst/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446520" y="189280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A2A2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欠落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6446520" y="211226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灰色の破線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126480" y="2441448"/>
            <a:ext cx="201168" cy="201168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446520" y="236829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A2A2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遅れ / 走り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6446520" y="25877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80ms 超だけ矢印と ms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126480" y="2916936"/>
            <a:ext cx="201168" cy="201168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6446520" y="284378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A2A2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余分な音</a:t>
            </a:r>
            <a:endParaRPr lang="en-US" sz="1200" dirty="0"/>
          </a:p>
        </p:txBody>
      </p:sp>
      <p:sp>
        <p:nvSpPr>
          <p:cNvPr id="63" name="Text 61"/>
          <p:cNvSpPr txBox="1"/>
          <p:nvPr/>
        </p:nvSpPr>
        <p:spPr>
          <a:xfrm>
            <a:off x="6446520" y="30632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五線の下に「+」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126480" y="3392424"/>
            <a:ext cx="201168" cy="201168"/>
          </a:xfrm>
          <a:prstGeom prst="ellipse">
            <a:avLst/>
          </a:prstGeom>
          <a:solidFill>
            <a:srgbClr val="3F7D58"/>
          </a:solidFill>
          <a:ln w="12700">
            <a:solidFill>
              <a:srgbClr val="3F7D58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446520" y="331927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A2A2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一致</a:t>
            </a:r>
            <a:endParaRPr lang="en-US" sz="1200" dirty="0"/>
          </a:p>
        </p:txBody>
      </p:sp>
      <p:sp>
        <p:nvSpPr>
          <p:cNvPr id="66" name="Text 64"/>
          <p:cNvSpPr txBox="1"/>
          <p:nvPr/>
        </p:nvSpPr>
        <p:spPr>
          <a:xfrm>
            <a:off x="6446520" y="353872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何も描かない</a:t>
            </a:r>
            <a:endParaRPr lang="en-US" sz="1000" dirty="0"/>
          </a:p>
        </p:txBody>
      </p:sp>
      <p:sp>
        <p:nvSpPr>
          <p:cNvPr id="67" name="Text 65"/>
          <p:cNvSpPr txBox="1"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2A2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録音を聴き返すと、楽譜上のカーソルが録音に同期して動く。履歴はテンポ別に一致率とばらつき（ms）を並べる。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2A2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リスクと対策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前身から引き継ぐものと、本提案で新たに生じるもの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44168"/>
            <a:ext cx="502920" cy="502920"/>
          </a:xfrm>
          <a:prstGeom prst="ellipse">
            <a:avLst/>
          </a:prstGeom>
          <a:solidFill>
            <a:srgbClr val="3A2A21"/>
          </a:solidFill>
          <a:ln w="12700">
            <a:solidFill>
              <a:srgbClr val="3A2A2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930" y="1469898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43000" y="129844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2A2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手入力の手間が続くか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159105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区間1つの打ち込みが 20 分を超え続けるなら、入口（OMR）の見直しを判断する。M-A で所要時間を記録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57200" y="2148840"/>
            <a:ext cx="502920" cy="502920"/>
          </a:xfrm>
          <a:prstGeom prst="ellipse">
            <a:avLst/>
          </a:prstGeom>
          <a:solidFill>
            <a:srgbClr val="3A2A21"/>
          </a:solidFill>
          <a:ln w="12700">
            <a:solidFill>
              <a:srgbClr val="3A2A2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" y="227457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43000" y="21031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2A2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実録音での精度が未計測（前身から）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143000" y="239572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合成音は実機より素直。M-A で自分の実録音を必ず通し、「正しく弾いたのに欠落と出る」割合を最重要の数字にする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57200" y="2953512"/>
            <a:ext cx="502920" cy="5029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" y="3079242"/>
            <a:ext cx="251460" cy="2514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143000" y="290779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2A2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エンジン C の倍音衝突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1143000" y="3200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1音抜きのストロークを合成して検出できるか確認。無理なら v1 の和音判定は「過半数が鳴ったか」の粗さに落とす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457200" y="3758184"/>
            <a:ext cx="502920" cy="502920"/>
          </a:xfrm>
          <a:prstGeom prst="ellipse">
            <a:avLst/>
          </a:prstGeom>
          <a:solidFill>
            <a:srgbClr val="3A2A21"/>
          </a:solidFill>
          <a:ln w="12700">
            <a:solidFill>
              <a:srgbClr val="3A2A21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30" y="3883914"/>
            <a:ext cx="251460" cy="25146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143000" y="371246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2A2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記譜オクターブの慣習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1143000" y="400507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ギター譜は実音より1オクターブ高く書く。取り込み時にプレビューで確認し、全音が ±12 ずれたら警告する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457200" y="4572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いずれも M-A（3週）の中で数字を取って判断できる。被験者が事実上1人に留まる点は前身と同じ。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2A2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残り約3ヶ月の計画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週数は 12 週を前提。6ヶ月枠を取り直す場合は M-B 以降を倍に伸ばす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020824" cy="548640"/>
          </a:xfrm>
          <a:prstGeom prst="rect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371600"/>
            <a:ext cx="1837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M-A 技術検証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3週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05740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alphaTab のタイムライン・オクターブ補正・同時音スロット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エンジン A/B/C を合成音＋実録音で比較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自分の区間を 2〜3 個打ち込み、所要時間を記録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14600" y="1371600"/>
            <a:ext cx="3392424" cy="548640"/>
          </a:xfrm>
          <a:prstGeom prst="rect">
            <a:avLst/>
          </a:prstGeom>
          <a:solidFill>
            <a:srgbClr val="3A2A21"/>
          </a:solidFill>
          <a:ln w="12700">
            <a:solidFill>
              <a:srgbClr val="3A2A2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06040" y="1371600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M-B MVP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5週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205740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取り込み → 区間 → クリック録音 → 音符単位の結果 → 履歴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Dexie スキーマ、楽譜上のオーバーレイ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0" y="1371600"/>
            <a:ext cx="1335024" cy="548640"/>
          </a:xfrm>
          <a:prstGeom prst="rect">
            <a:avLst/>
          </a:prstGeom>
          <a:solidFill>
            <a:srgbClr val="8C7B70"/>
          </a:solidFill>
          <a:ln w="12700">
            <a:solidFill>
              <a:srgbClr val="8C7B7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35040" y="1371600"/>
            <a:ext cx="1152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M-C 調整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2週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989320" y="2057400"/>
            <a:ext cx="1234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許容ルール、同期再生、クリア判定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余裕があれば OMR 経路を試す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0" y="1371600"/>
            <a:ext cx="1335024" cy="548640"/>
          </a:xfrm>
          <a:prstGeom prst="rect">
            <a:avLst/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06640" y="1371600"/>
            <a:ext cx="1152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M-D まとめ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2週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360920" y="2057400"/>
            <a:ext cx="1234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実録音で再計測、Android で動作確認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成果まとめ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A2A2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最初の1週間で alphaTab の API（tick ルックアップ、トランスポーズの反映、同期点）を確定させる。ここが想定と違えば設計の該当箇所を直す。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A2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AEA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14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120640" y="274320"/>
            <a:ext cx="4023360" cy="0"/>
          </a:xfrm>
          <a:prstGeom prst="line">
            <a:avLst/>
          </a:prstGeom>
          <a:noFill/>
          <a:ln w="9525">
            <a:solidFill>
              <a:srgbClr val="6B55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0" y="475488"/>
            <a:ext cx="4023360" cy="0"/>
          </a:xfrm>
          <a:prstGeom prst="line">
            <a:avLst/>
          </a:prstGeom>
          <a:noFill/>
          <a:ln w="9525">
            <a:solidFill>
              <a:srgbClr val="6B55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0" y="676656"/>
            <a:ext cx="4023360" cy="0"/>
          </a:xfrm>
          <a:prstGeom prst="line">
            <a:avLst/>
          </a:prstGeom>
          <a:noFill/>
          <a:ln w="9525">
            <a:solidFill>
              <a:srgbClr val="6B55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0" y="877824"/>
            <a:ext cx="4023360" cy="0"/>
          </a:xfrm>
          <a:prstGeom prst="line">
            <a:avLst/>
          </a:prstGeom>
          <a:noFill/>
          <a:ln w="9525">
            <a:solidFill>
              <a:srgbClr val="6B55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0" y="1078992"/>
            <a:ext cx="4023360" cy="0"/>
          </a:xfrm>
          <a:prstGeom prst="line">
            <a:avLst/>
          </a:prstGeom>
          <a:noFill/>
          <a:ln w="9525">
            <a:solidFill>
              <a:srgbClr val="6B55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4572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まとめ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18872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自己比較は「正しさ」を測れない。楽譜ファイルを正解にすれば根本から解消できる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正解があると問題が「鳴ったかを確かめる」に変わり、和音も検証可能になる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v1 は入口をファイルに絞り、照合の価値を3ヶ月で確かめる。前身の資産は持ち越す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8046720" cy="1554480"/>
          </a:xfrm>
          <a:prstGeom prst="roundRect">
            <a:avLst>
              <a:gd name="adj" fmla="val 4706"/>
            </a:avLst>
          </a:prstGeom>
          <a:solidFill>
            <a:srgbClr val="4E3A2E"/>
          </a:solidFill>
          <a:ln w="12700">
            <a:solidFill>
              <a:srgbClr val="4E3A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154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82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判断をお願いしたいこと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52044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前身（自己比較アプリ）を中間報告の成果として凍結し、本提案に切り替えてよいか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期間：残り3ヶ月で v1 まで進めるか、6ヶ月枠を取り直すか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ギター楽譜照合診断アプリ</dc:title>
  <dc:subject>PptxGenJS Presentation</dc:subject>
  <dc:creator>yk</dc:creator>
  <cp:lastModifiedBy>yk</cp:lastModifiedBy>
  <cp:revision>1</cp:revision>
  <dcterms:created xsi:type="dcterms:W3CDTF">2026-09-19T01:40:38Z</dcterms:created>
  <dcterms:modified xsi:type="dcterms:W3CDTF">2026-09-19T01:40:38Z</dcterms:modified>
</cp:coreProperties>
</file>